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4"/>
    <p:sldId id="270" r:id="rId25"/>
    <p:sldId id="271" r:id="rId26"/>
  </p:sldIdLst>
  <p:sldSz cy="5143500" cx="9144000"/>
  <p:notesSz cx="6858000" cy="9144000"/>
  <p:embeddedFontLst>
    <p:embeddedFont>
      <p:font typeface="Noto Sans KR"/>
      <p:regular r:id="rId20"/>
      <p:bold r:id="rId21"/>
    </p:embeddedFont>
    <p:embeddedFont>
      <p:font typeface="Gothic A1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C0E3AA-F70F-4918-8CF2-4A8C3B618530}">
  <a:tblStyle styleId="{0CC0E3AA-F70F-4918-8CF2-4A8C3B6185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font" Target="fonts/NotoSansKR-regular.fntdata"/><Relationship Id="rId21" Type="http://schemas.openxmlformats.org/officeDocument/2006/relationships/font" Target="fonts/NotoSansKR-bold.fntdata"/><Relationship Id="rId22" Type="http://schemas.openxmlformats.org/officeDocument/2006/relationships/font" Target="fonts/GothicA1-regular.fntdata"/><Relationship Id="rId23" Type="http://schemas.openxmlformats.org/officeDocument/2006/relationships/font" Target="fonts/GothicA1-bold.fntdata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b579faa35_3_53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b579faa35_3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b579faa35_3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b579faa3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b579faa35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b579faa35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b579faa35_3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b579faa35_3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b579faa35_3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b579faa35_3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b579faa35_3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b579faa35_3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b579faa35_3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b579faa35_3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b579faa35_3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b579faa35_3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b579faa35_3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b579faa35_3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b579faa35_3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b579faa35_3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b579faa35_3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b579faa35_3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b579faa35_3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b579faa35_3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b579faa35_3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b579faa35_3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6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28993" y="1352075"/>
            <a:ext cx="88149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양식 가이드</a:t>
            </a:r>
            <a:endParaRPr b="1" sz="35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1. 반드시 </a:t>
            </a:r>
            <a:r>
              <a:rPr b="1" lang="ko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사본</a:t>
            </a:r>
            <a:r>
              <a:rPr lang="ko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저장해서 사용해주세요. </a:t>
            </a:r>
            <a:r>
              <a:rPr lang="ko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(파일 → 사본 만들기 → 프레젠테이션 전체) *본 가이드 페이지는 삭제 후 사용)</a:t>
            </a:r>
            <a:endParaRPr sz="10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2. 작성이 완료되면 PDF 또는 PPT, PPTX로 저장하여 제출해주세요. </a:t>
            </a:r>
            <a:endParaRPr sz="1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3. 정해진 양식 이 외에 페이지 추가해서 사용하셔도 됩니다. (10장 내외 권장)</a:t>
            </a:r>
            <a:endParaRPr sz="1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9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4. 발표 시간 10분 이내로 자유롭게 구성해주세요.</a:t>
            </a:r>
            <a:endParaRPr sz="1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6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58912" y="996742"/>
            <a:ext cx="47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함께걸음 팀</a:t>
            </a:r>
            <a:endParaRPr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29008" y="1352086"/>
            <a:ext cx="46650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함께걸음 (TripForAll)</a:t>
            </a:r>
            <a:endParaRPr b="1" sz="35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sz="3500" b="1">
                <a:solidFill>
                  <a:srgbClr val="FFFFFF"/>
                </a:solidFill>
                <a:latin typeface="Noto Sans KR"/>
              </a:rPr>
              <a:t>휠체어 할머니부터 8살 손주까지, 한 코스로 함께 걸을 수 있는 무장애·다세대 동반 여행 AI 어시스턴트</a:t>
            </a:r>
          </a:p>
        </p:txBody>
      </p:sp>
      <p:cxnSp>
        <p:nvCxnSpPr>
          <p:cNvPr id="61" name="Google Shape;61;p14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4"/>
          <p:cNvSpPr txBox="1"/>
          <p:nvPr/>
        </p:nvSpPr>
        <p:spPr>
          <a:xfrm>
            <a:off x="381275" y="3870394"/>
            <a:ext cx="47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2026. 06. 10.</a:t>
            </a:r>
            <a:endParaRPr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708201" y="184950"/>
            <a:ext cx="318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2026 관광데이터 활용 공모전 - 생성형 AI 활용 관광 프롬프톤</a:t>
            </a:r>
            <a:endParaRPr sz="9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5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5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팀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팀 소개</a:t>
            </a:r>
            <a:endParaRPr b="1" sz="2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1" name="Google Shape;71;p15"/>
          <p:cNvCxnSpPr/>
          <p:nvPr/>
        </p:nvCxnSpPr>
        <p:spPr>
          <a:xfrm rot="10800000">
            <a:off x="4580700" y="1484698"/>
            <a:ext cx="0" cy="329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/>
          <p:nvPr/>
        </p:nvSpPr>
        <p:spPr>
          <a:xfrm>
            <a:off x="335425" y="1440175"/>
            <a:ext cx="3924600" cy="32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>사진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699000" y="1478230"/>
            <a:ext cx="45915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solidFill/>
                <a:latin typeface="Noto Sans KR"/>
                <a:ea typeface="Noto Sans KR"/>
                <a:cs typeface="Noto Sans KR"/>
                <a:sym typeface="Noto Sans KR"/>
              </a:rPr>
              <a:t>팀 소개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sz="1500">
                <a:latin typeface="Noto Sans KR"/>
              </a:rPr>
              <a:t>• 함께걸음 팀 (1인)</a:t>
            </a:r>
          </a:p>
          <a:p>
            <a:r>
              <a:rPr sz="1500">
                <a:latin typeface="Noto Sans KR"/>
              </a:rPr>
              <a:t>• 한승범 (팀장 · Ennoia 에이전트 설계 · 백엔드 통합)</a:t>
            </a:r>
          </a:p>
          <a:p>
            <a:r>
              <a:rPr sz="1500">
                <a:latin typeface="Noto Sans KR"/>
              </a:rPr>
              <a:t/>
            </a:r>
          </a:p>
          <a:p>
            <a:r>
              <a:rPr sz="1500">
                <a:latin typeface="Noto Sans KR"/>
              </a:rPr>
              <a:t>참여 계기</a:t>
            </a:r>
          </a:p>
          <a:p>
            <a:r>
              <a:rPr sz="1500">
                <a:latin typeface="Noto Sans KR"/>
              </a:rPr>
              <a:t>• 휠체어를 쓰시는 어머니와의 가족 여행을 준비하며 무장애 정보가 흩어져 있고</a:t>
            </a:r>
          </a:p>
          <a:p>
            <a:r>
              <a:rPr sz="1500">
                <a:latin typeface="Noto Sans KR"/>
              </a:rPr>
              <a:t>  "가장 느린 동행자에게 맞춘 코스"를 찾기가 어려웠던 경험에서 출발</a:t>
            </a:r>
          </a:p>
          <a:p>
            <a:r>
              <a:rPr sz="1500">
                <a:latin typeface="Noto Sans KR"/>
              </a:rPr>
              <a:t>• 고령화·다세대 가족 동반 여행 트렌드에 답하는 도구가 거의 없다는 점</a:t>
            </a:r>
          </a:p>
          <a:p>
            <a:r>
              <a:rPr sz="1500">
                <a:latin typeface="Noto Sans KR"/>
              </a:rPr>
              <a:t>• 누구도 두고 가지 않는 여행을 만들고자 본 공모전에 참가</a:t>
            </a:r>
          </a:p>
        </p:txBody>
      </p:sp>
      <p:graphicFrame>
        <p:nvGraphicFramePr>
          <p:cNvPr id="74" name="Google Shape;74;p15"/>
          <p:cNvGraphicFramePr/>
          <p:nvPr/>
        </p:nvGraphicFramePr>
        <p:xfrm>
          <a:off x="5004150" y="223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{0CC0E3AA-F70F-4918-8CF2-4A8C3B618530}</a:tableStyleId>
              </a:tblPr>
              <a:tblGrid>
                <a:gridCol w="651625"/>
                <a:gridCol w="815150"/>
                <a:gridCol w="1448700"/>
                <a:gridCol w="971825"/>
              </a:tblGrid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성함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담당 </a:t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역할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(팀장, 팀원)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담당업무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기타사항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  <a:r>
                        <a:t>한승범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  <a:r>
                        <a:t>팀장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  <a:r>
                        <a:t>Ennoia 에이전트 설계 · preset 구성 · KTO MCP 통합 · 프롬프트 엔지니어링 · Next.js 백엔드 · 14종 외부 API 통합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  <a:r>
                        <a:t>—</a:t>
                      </a:r>
                    </a:p>
                  </a:txBody>
                  <a:tcPr marT="91425" marB="91425" marR="91425" marL="9142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5" name="Picture 7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25" y="2206240"/>
            <a:ext cx="3924600" cy="1766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16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6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 소개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236425" y="1327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{0CC0E3AA-F70F-4918-8CF2-4A8C3B618530}</a:tableStyleId>
              </a:tblPr>
              <a:tblGrid>
                <a:gridCol w="995500"/>
                <a:gridCol w="7576000"/>
              </a:tblGrid>
              <a:tr h="205450">
                <a:tc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</a:t>
                      </a: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요약</a:t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</a:t>
                      </a: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명</a:t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  <a:r>
                        <a:t>함께걸음 (TripForAll) — 이동약자·다세대 가족을 위한 무장애 동반 여행 AI 어시스턴트</a:t>
                      </a:r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</a:t>
                      </a: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요약설명</a:t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  <a:r>
                        <a:t>동행자별 이동수단·체력·연령과 시·군·구·테마·날짜를 입력하면, 한국관광공사 OpenAPI(무장애 인증·관광지·식당·운영시간) 등 14종 외부 데이터를 통합해 Ennoia 에이전트가 "가장 느린 동행자" 기준 안전 동선, 세대별 분기 미션, 체력 시뮬레이션, 휴무·날씨 자동 회피, 응급실·장애인 화장실 매핑까지 한 번에 생성합니다.</a:t>
                      </a:r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주제 선정 이유</a:t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  <a:r>
                        <a:t>휠체어를 쓰는 어머니와의 가족 여행을 준비하며 무장애 정보가 흩어져 있고, "가장 느린 동행자에게 맞춘 코스"를 찾기가 어려웠습니다. 고령화와 다세대 가족 동반 여행이 늘어나는 시대에 이동약자와 그 가족이 같이 갈 수 있는 도구가 거의 없다는 점이 출발점이었습니다. 누구도 두고 가지 않는 여행을 가능하게 만들고 싶었습니다.</a:t>
                      </a:r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타겟 사용자</a:t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  <a:r>
                        <a:t>1차: 이동약자 본인(휠체어·보행보조기·임산부·저체력 시니어) + 그를 동반하는 가족(특히 조부모-부모-자녀 3세대)</a:t>
                      </a:r>
                    </a:p>
                    <a:p>
                      <a:r>
                        <a:t>2차: 유아차 가족, 반려동물 동반 여행자, 시니어 그룹 인솔자, 무장애 외국인 관광객(KTO 다국어 API 확장 가능)</a:t>
                      </a:r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17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7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 한 줄 요약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61300" y="1953254"/>
            <a:ext cx="862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/>
                <a:latin typeface="Noto Sans KR"/>
                <a:ea typeface="Noto Sans KR"/>
                <a:cs typeface="Noto Sans KR"/>
                <a:sym typeface="Noto Sans KR"/>
              </a:rPr>
              <a:t>"우리는 이동약자와 다세대 가족이 함께 갈 수 있는 여행 코스가 없다는 문제를</a:t>
            </a:r>
            <a:endParaRPr b="1" sz="2000"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sz="2000" b="1">
                <a:latin typeface="Noto Sans KR"/>
              </a:rPr>
              <a:t>무장애·페이스·세대분기를 통합한 AI 동반자를 통해 해결합니다."</a:t>
            </a:r>
          </a:p>
          <a:p>
            <a:r>
              <a:rPr sz="2000" b="1">
                <a:latin typeface="Noto Sans KR"/>
              </a:rPr>
              <a:t/>
            </a:r>
          </a:p>
          <a:p>
            <a:r>
              <a:rPr sz="2000" b="1">
                <a:latin typeface="Noto Sans KR"/>
              </a:rPr>
              <a:t>핵심 기능 3가지</a:t>
            </a:r>
          </a:p>
          <a:p>
            <a:r>
              <a:rPr sz="2000" b="1">
                <a:latin typeface="Noto Sans KR"/>
              </a:rPr>
              <a:t>① 무장애 매칭 — KTO 무장애 25항목 + 행안부 화장실 통합</a:t>
            </a:r>
          </a:p>
          <a:p>
            <a:r>
              <a:rPr sz="2000" b="1">
                <a:latin typeface="Noto Sans KR"/>
              </a:rPr>
              <a:t>② 다세대 동선 — 가장 느린 동행자 기준 + 활동적인 가족 분기/재합류 + 세대 연결 미션</a:t>
            </a:r>
          </a:p>
          <a:p>
            <a:r>
              <a:rPr sz="2000" b="1">
                <a:latin typeface="Noto Sans KR"/>
              </a:rPr>
              <a:t>③ 선제적 위험 회피 — 휴무·날씨·체력 30% 미만 시 자동 변경/휴식 + 응급실 매핑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18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8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입력˙출력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270000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입력값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270000" y="1819375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rPr>
                <a:solidFill/>
              </a:rPr>
              <a:t>• 시·도 : 서울 / 부산 / 제주 / 경기 (4개)</a:t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t>• 시·군·구 : 74개 (서울25 · 부산16 · 제주2 · 경기31)</a:t>
            </a:r>
          </a:p>
          <a:p>
            <a:r>
              <a:t>• 동행자[1~6명] : 닉네임·나이·이동수단(8종)·체력 %·메모</a:t>
            </a:r>
          </a:p>
          <a:p>
            <a:r>
              <a:t>• 테마 : 역사/자연/음식/예술/가족/축제/현지인처럼/실내/웰니스/반려동물 (10종)</a:t>
            </a:r>
          </a:p>
          <a:p>
            <a:r>
              <a:t>• 선호음식 : 한식/중식/일식/양식/카페/무관 (6종)</a:t>
            </a:r>
          </a:p>
          <a:p>
            <a:r>
              <a:t>• 여행 날짜·출발 시간·여행 시간(2~10h)</a:t>
            </a:r>
          </a:p>
        </p:txBody>
      </p:sp>
      <p:sp>
        <p:nvSpPr>
          <p:cNvPr id="100" name="Google Shape;100;p18"/>
          <p:cNvSpPr txBox="1"/>
          <p:nvPr/>
        </p:nvSpPr>
        <p:spPr>
          <a:xfrm>
            <a:off x="5061275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출력값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5061275" y="1819450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rPr>
                <a:solidFill/>
              </a:rPr>
              <a:t>• 코스 안전 동선 (4~6 stops + 식사)</a:t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t>• 무장애 배지 (휠체어·엘리베이터·화장실 등)</a:t>
            </a:r>
          </a:p>
          <a:p>
            <a:r>
              <a:t>• 혼잡도 🟢🟡🔴 · 인증 🏅 · 웰니스 🌐 · 반려동물 🐾</a:t>
            </a:r>
          </a:p>
          <a:p>
            <a:r>
              <a:t>• 현재 날씨 + 휴무 회피 + 시간 변경 안내</a:t>
            </a:r>
          </a:p>
          <a:p>
            <a:r>
              <a:t>• 응급실 2곳 + 장애인 화장실 반경 500m</a:t>
            </a:r>
          </a:p>
          <a:p>
            <a:r>
              <a:t>• 3세대 1인칭 narrative + 세대 연결 미션</a:t>
            </a:r>
          </a:p>
        </p:txBody>
      </p:sp>
      <p:grpSp>
        <p:nvGrpSpPr>
          <p:cNvPr id="102" name="Google Shape;102;p18"/>
          <p:cNvGrpSpPr/>
          <p:nvPr/>
        </p:nvGrpSpPr>
        <p:grpSpPr>
          <a:xfrm>
            <a:off x="3951396" y="2838330"/>
            <a:ext cx="1206727" cy="552107"/>
            <a:chOff x="5340068" y="3633028"/>
            <a:chExt cx="1512000" cy="691777"/>
          </a:xfrm>
        </p:grpSpPr>
        <p:sp>
          <p:nvSpPr>
            <p:cNvPr id="103" name="Google Shape;103;p18"/>
            <p:cNvSpPr/>
            <p:nvPr/>
          </p:nvSpPr>
          <p:spPr>
            <a:xfrm>
              <a:off x="5340068" y="3698398"/>
              <a:ext cx="1512000" cy="60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5D8F1"/>
            </a:solidFill>
            <a:ln>
              <a:noFill/>
            </a:ln>
          </p:spPr>
          <p:txBody>
            <a:bodyPr anchorCtr="0" anchor="ctr" bIns="36475" lIns="72975" spcFirstLastPara="1" rIns="72975" wrap="square" tIns="36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" name="Google Shape;104;p18"/>
            <p:cNvGrpSpPr/>
            <p:nvPr/>
          </p:nvGrpSpPr>
          <p:grpSpPr>
            <a:xfrm>
              <a:off x="5657982" y="3633028"/>
              <a:ext cx="693905" cy="691777"/>
              <a:chOff x="5549900" y="6350"/>
              <a:chExt cx="998425" cy="995363"/>
            </a:xfrm>
          </p:grpSpPr>
          <p:sp>
            <p:nvSpPr>
              <p:cNvPr id="105" name="Google Shape;105;p18"/>
              <p:cNvSpPr/>
              <p:nvPr/>
            </p:nvSpPr>
            <p:spPr>
              <a:xfrm>
                <a:off x="6122988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8"/>
              <p:cNvSpPr/>
              <p:nvPr/>
            </p:nvSpPr>
            <p:spPr>
              <a:xfrm>
                <a:off x="6210300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8"/>
              <p:cNvSpPr/>
              <p:nvPr/>
            </p:nvSpPr>
            <p:spPr>
              <a:xfrm>
                <a:off x="6169025" y="131763"/>
                <a:ext cx="44450" cy="57150"/>
              </a:xfrm>
              <a:custGeom>
                <a:rect b="b" l="l" r="r" t="t"/>
                <a:pathLst>
                  <a:path extrusionOk="0" h="36" w="28">
                    <a:moveTo>
                      <a:pt x="0" y="0"/>
                    </a:moveTo>
                    <a:lnTo>
                      <a:pt x="0" y="19"/>
                    </a:lnTo>
                    <a:lnTo>
                      <a:pt x="9" y="19"/>
                    </a:lnTo>
                    <a:lnTo>
                      <a:pt x="9" y="36"/>
                    </a:lnTo>
                    <a:lnTo>
                      <a:pt x="28" y="36"/>
                    </a:lnTo>
                    <a:lnTo>
                      <a:pt x="28" y="17"/>
                    </a:lnTo>
                    <a:lnTo>
                      <a:pt x="19" y="17"/>
                    </a:lnTo>
                    <a:lnTo>
                      <a:pt x="1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8"/>
              <p:cNvSpPr/>
              <p:nvPr/>
            </p:nvSpPr>
            <p:spPr>
              <a:xfrm>
                <a:off x="6316663" y="230188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8"/>
              <p:cNvSpPr/>
              <p:nvPr/>
            </p:nvSpPr>
            <p:spPr>
              <a:xfrm>
                <a:off x="6138863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8"/>
              <p:cNvSpPr/>
              <p:nvPr/>
            </p:nvSpPr>
            <p:spPr>
              <a:xfrm>
                <a:off x="6213475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8"/>
              <p:cNvSpPr/>
              <p:nvPr/>
            </p:nvSpPr>
            <p:spPr>
              <a:xfrm>
                <a:off x="6175375" y="792163"/>
                <a:ext cx="46038" cy="60325"/>
              </a:xfrm>
              <a:custGeom>
                <a:rect b="b" l="l" r="r" t="t"/>
                <a:pathLst>
                  <a:path extrusionOk="0" h="38" w="29">
                    <a:moveTo>
                      <a:pt x="20" y="19"/>
                    </a:moveTo>
                    <a:lnTo>
                      <a:pt x="29" y="19"/>
                    </a:lnTo>
                    <a:lnTo>
                      <a:pt x="29" y="0"/>
                    </a:lnTo>
                    <a:lnTo>
                      <a:pt x="10" y="0"/>
                    </a:lnTo>
                    <a:lnTo>
                      <a:pt x="10" y="19"/>
                    </a:lnTo>
                    <a:lnTo>
                      <a:pt x="0" y="19"/>
                    </a:lnTo>
                    <a:lnTo>
                      <a:pt x="0" y="38"/>
                    </a:lnTo>
                    <a:lnTo>
                      <a:pt x="20" y="38"/>
                    </a:lnTo>
                    <a:lnTo>
                      <a:pt x="2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8"/>
              <p:cNvSpPr/>
              <p:nvPr/>
            </p:nvSpPr>
            <p:spPr>
              <a:xfrm>
                <a:off x="6327775" y="701675"/>
                <a:ext cx="45900" cy="44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8"/>
              <p:cNvSpPr/>
              <p:nvPr/>
            </p:nvSpPr>
            <p:spPr>
              <a:xfrm>
                <a:off x="6169025" y="488950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8"/>
              <p:cNvSpPr/>
              <p:nvPr/>
            </p:nvSpPr>
            <p:spPr>
              <a:xfrm>
                <a:off x="6243638" y="360363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8"/>
              <p:cNvSpPr/>
              <p:nvPr/>
            </p:nvSpPr>
            <p:spPr>
              <a:xfrm>
                <a:off x="6243638" y="587375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8"/>
              <p:cNvSpPr/>
              <p:nvPr/>
            </p:nvSpPr>
            <p:spPr>
              <a:xfrm>
                <a:off x="6281738" y="481013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8"/>
              <p:cNvSpPr/>
              <p:nvPr/>
            </p:nvSpPr>
            <p:spPr>
              <a:xfrm>
                <a:off x="6380163" y="477838"/>
                <a:ext cx="57300" cy="525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8"/>
              <p:cNvSpPr/>
              <p:nvPr/>
            </p:nvSpPr>
            <p:spPr>
              <a:xfrm>
                <a:off x="6319838" y="11271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8"/>
              <p:cNvSpPr/>
              <p:nvPr/>
            </p:nvSpPr>
            <p:spPr>
              <a:xfrm>
                <a:off x="6450013" y="279400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8"/>
              <p:cNvSpPr/>
              <p:nvPr/>
            </p:nvSpPr>
            <p:spPr>
              <a:xfrm>
                <a:off x="5549900" y="6350"/>
                <a:ext cx="679450" cy="995363"/>
              </a:xfrm>
              <a:custGeom>
                <a:rect b="b" l="l" r="r" t="t"/>
                <a:pathLst>
                  <a:path extrusionOk="0" h="262" w="179">
                    <a:moveTo>
                      <a:pt x="163" y="242"/>
                    </a:moveTo>
                    <a:cubicBezTo>
                      <a:pt x="147" y="242"/>
                      <a:pt x="147" y="242"/>
                      <a:pt x="147" y="242"/>
                    </a:cubicBezTo>
                    <a:cubicBezTo>
                      <a:pt x="147" y="246"/>
                      <a:pt x="147" y="246"/>
                      <a:pt x="147" y="246"/>
                    </a:cubicBezTo>
                    <a:cubicBezTo>
                      <a:pt x="131" y="246"/>
                      <a:pt x="131" y="246"/>
                      <a:pt x="131" y="246"/>
                    </a:cubicBezTo>
                    <a:cubicBezTo>
                      <a:pt x="101" y="246"/>
                      <a:pt x="72" y="234"/>
                      <a:pt x="50" y="213"/>
                    </a:cubicBezTo>
                    <a:cubicBezTo>
                      <a:pt x="28" y="191"/>
                      <a:pt x="16" y="162"/>
                      <a:pt x="16" y="131"/>
                    </a:cubicBezTo>
                    <a:cubicBezTo>
                      <a:pt x="16" y="100"/>
                      <a:pt x="28" y="71"/>
                      <a:pt x="50" y="50"/>
                    </a:cubicBezTo>
                    <a:cubicBezTo>
                      <a:pt x="72" y="28"/>
                      <a:pt x="101" y="16"/>
                      <a:pt x="131" y="16"/>
                    </a:cubicBezTo>
                    <a:cubicBezTo>
                      <a:pt x="147" y="16"/>
                      <a:pt x="147" y="16"/>
                      <a:pt x="147" y="16"/>
                    </a:cubicBezTo>
                    <a:cubicBezTo>
                      <a:pt x="147" y="20"/>
                      <a:pt x="147" y="20"/>
                      <a:pt x="147" y="20"/>
                    </a:cubicBezTo>
                    <a:cubicBezTo>
                      <a:pt x="163" y="20"/>
                      <a:pt x="163" y="20"/>
                      <a:pt x="163" y="20"/>
                    </a:cubicBezTo>
                    <a:cubicBezTo>
                      <a:pt x="163" y="24"/>
                      <a:pt x="163" y="24"/>
                      <a:pt x="163" y="24"/>
                    </a:cubicBezTo>
                    <a:cubicBezTo>
                      <a:pt x="179" y="24"/>
                      <a:pt x="179" y="24"/>
                      <a:pt x="179" y="24"/>
                    </a:cubicBezTo>
                    <a:cubicBezTo>
                      <a:pt x="179" y="8"/>
                      <a:pt x="179" y="8"/>
                      <a:pt x="179" y="8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4"/>
                      <a:pt x="163" y="4"/>
                      <a:pt x="163" y="4"/>
                    </a:cubicBezTo>
                    <a:cubicBezTo>
                      <a:pt x="147" y="4"/>
                      <a:pt x="147" y="4"/>
                      <a:pt x="147" y="4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59" y="0"/>
                      <a:pt x="0" y="59"/>
                      <a:pt x="0" y="131"/>
                    </a:cubicBezTo>
                    <a:cubicBezTo>
                      <a:pt x="0" y="204"/>
                      <a:pt x="59" y="262"/>
                      <a:pt x="131" y="262"/>
                    </a:cubicBezTo>
                    <a:cubicBezTo>
                      <a:pt x="147" y="262"/>
                      <a:pt x="147" y="262"/>
                      <a:pt x="147" y="262"/>
                    </a:cubicBezTo>
                    <a:cubicBezTo>
                      <a:pt x="147" y="258"/>
                      <a:pt x="147" y="258"/>
                      <a:pt x="147" y="258"/>
                    </a:cubicBezTo>
                    <a:cubicBezTo>
                      <a:pt x="163" y="258"/>
                      <a:pt x="163" y="258"/>
                      <a:pt x="163" y="258"/>
                    </a:cubicBezTo>
                    <a:cubicBezTo>
                      <a:pt x="163" y="254"/>
                      <a:pt x="163" y="254"/>
                      <a:pt x="163" y="254"/>
                    </a:cubicBezTo>
                    <a:cubicBezTo>
                      <a:pt x="179" y="254"/>
                      <a:pt x="179" y="254"/>
                      <a:pt x="179" y="254"/>
                    </a:cubicBezTo>
                    <a:cubicBezTo>
                      <a:pt x="179" y="238"/>
                      <a:pt x="179" y="238"/>
                      <a:pt x="179" y="238"/>
                    </a:cubicBezTo>
                    <a:cubicBezTo>
                      <a:pt x="163" y="238"/>
                      <a:pt x="163" y="238"/>
                      <a:pt x="163" y="238"/>
                    </a:cubicBezTo>
                    <a:lnTo>
                      <a:pt x="163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8"/>
              <p:cNvSpPr/>
              <p:nvPr/>
            </p:nvSpPr>
            <p:spPr>
              <a:xfrm>
                <a:off x="6319838" y="833438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8"/>
              <p:cNvSpPr/>
              <p:nvPr/>
            </p:nvSpPr>
            <p:spPr>
              <a:xfrm>
                <a:off x="6450013" y="65246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8"/>
              <p:cNvSpPr/>
              <p:nvPr/>
            </p:nvSpPr>
            <p:spPr>
              <a:xfrm>
                <a:off x="6486525" y="473075"/>
                <a:ext cx="618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8"/>
              <p:cNvSpPr/>
              <p:nvPr/>
            </p:nvSpPr>
            <p:spPr>
              <a:xfrm>
                <a:off x="5667375" y="123825"/>
                <a:ext cx="455613" cy="758825"/>
              </a:xfrm>
              <a:custGeom>
                <a:rect b="b" l="l" r="r" t="t"/>
                <a:pathLst>
                  <a:path extrusionOk="0" h="200" w="120">
                    <a:moveTo>
                      <a:pt x="120" y="104"/>
                    </a:moveTo>
                    <a:cubicBezTo>
                      <a:pt x="120" y="96"/>
                      <a:pt x="120" y="96"/>
                      <a:pt x="120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12" y="38"/>
                      <a:pt x="112" y="38"/>
                      <a:pt x="112" y="38"/>
                    </a:cubicBezTo>
                    <a:cubicBezTo>
                      <a:pt x="112" y="30"/>
                      <a:pt x="112" y="30"/>
                      <a:pt x="112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3" y="0"/>
                      <a:pt x="102" y="0"/>
                      <a:pt x="100" y="0"/>
                    </a:cubicBezTo>
                    <a:cubicBezTo>
                      <a:pt x="99" y="0"/>
                      <a:pt x="98" y="0"/>
                      <a:pt x="96" y="0"/>
                    </a:cubicBezTo>
                    <a:cubicBezTo>
                      <a:pt x="96" y="30"/>
                      <a:pt x="96" y="30"/>
                      <a:pt x="96" y="30"/>
                    </a:cubicBezTo>
                    <a:cubicBezTo>
                      <a:pt x="59" y="30"/>
                      <a:pt x="59" y="30"/>
                      <a:pt x="59" y="30"/>
                    </a:cubicBezTo>
                    <a:cubicBezTo>
                      <a:pt x="63" y="20"/>
                      <a:pt x="66" y="12"/>
                      <a:pt x="71" y="5"/>
                    </a:cubicBezTo>
                    <a:cubicBezTo>
                      <a:pt x="67" y="6"/>
                      <a:pt x="63" y="7"/>
                      <a:pt x="59" y="9"/>
                    </a:cubicBezTo>
                    <a:cubicBezTo>
                      <a:pt x="56" y="15"/>
                      <a:pt x="53" y="23"/>
                      <a:pt x="51" y="30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26" y="33"/>
                      <a:pt x="24" y="35"/>
                      <a:pt x="22" y="38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44" y="56"/>
                      <a:pt x="41" y="76"/>
                      <a:pt x="41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8"/>
                      <a:pt x="0" y="99"/>
                      <a:pt x="0" y="100"/>
                    </a:cubicBezTo>
                    <a:cubicBezTo>
                      <a:pt x="0" y="102"/>
                      <a:pt x="0" y="103"/>
                      <a:pt x="0" y="104"/>
                    </a:cubicBezTo>
                    <a:cubicBezTo>
                      <a:pt x="41" y="104"/>
                      <a:pt x="41" y="104"/>
                      <a:pt x="41" y="104"/>
                    </a:cubicBezTo>
                    <a:cubicBezTo>
                      <a:pt x="41" y="122"/>
                      <a:pt x="43" y="138"/>
                      <a:pt x="47" y="154"/>
                    </a:cubicBezTo>
                    <a:cubicBezTo>
                      <a:pt x="16" y="154"/>
                      <a:pt x="16" y="154"/>
                      <a:pt x="16" y="154"/>
                    </a:cubicBezTo>
                    <a:cubicBezTo>
                      <a:pt x="17" y="156"/>
                      <a:pt x="19" y="159"/>
                      <a:pt x="21" y="162"/>
                    </a:cubicBezTo>
                    <a:cubicBezTo>
                      <a:pt x="48" y="162"/>
                      <a:pt x="48" y="162"/>
                      <a:pt x="48" y="162"/>
                    </a:cubicBezTo>
                    <a:cubicBezTo>
                      <a:pt x="51" y="173"/>
                      <a:pt x="55" y="183"/>
                      <a:pt x="59" y="191"/>
                    </a:cubicBezTo>
                    <a:cubicBezTo>
                      <a:pt x="63" y="193"/>
                      <a:pt x="67" y="195"/>
                      <a:pt x="71" y="196"/>
                    </a:cubicBezTo>
                    <a:cubicBezTo>
                      <a:pt x="65" y="187"/>
                      <a:pt x="60" y="175"/>
                      <a:pt x="57" y="162"/>
                    </a:cubicBezTo>
                    <a:cubicBezTo>
                      <a:pt x="96" y="162"/>
                      <a:pt x="96" y="162"/>
                      <a:pt x="96" y="162"/>
                    </a:cubicBezTo>
                    <a:cubicBezTo>
                      <a:pt x="96" y="200"/>
                      <a:pt x="96" y="200"/>
                      <a:pt x="96" y="200"/>
                    </a:cubicBezTo>
                    <a:cubicBezTo>
                      <a:pt x="98" y="200"/>
                      <a:pt x="99" y="200"/>
                      <a:pt x="100" y="200"/>
                    </a:cubicBezTo>
                    <a:cubicBezTo>
                      <a:pt x="102" y="200"/>
                      <a:pt x="103" y="200"/>
                      <a:pt x="104" y="200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12" y="162"/>
                      <a:pt x="112" y="162"/>
                      <a:pt x="112" y="162"/>
                    </a:cubicBezTo>
                    <a:cubicBezTo>
                      <a:pt x="112" y="154"/>
                      <a:pt x="112" y="154"/>
                      <a:pt x="112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lnTo>
                      <a:pt x="120" y="104"/>
                    </a:lnTo>
                    <a:close/>
                    <a:moveTo>
                      <a:pt x="96" y="154"/>
                    </a:moveTo>
                    <a:cubicBezTo>
                      <a:pt x="55" y="154"/>
                      <a:pt x="55" y="154"/>
                      <a:pt x="55" y="154"/>
                    </a:cubicBezTo>
                    <a:cubicBezTo>
                      <a:pt x="51" y="139"/>
                      <a:pt x="49" y="122"/>
                      <a:pt x="49" y="104"/>
                    </a:cubicBezTo>
                    <a:cubicBezTo>
                      <a:pt x="96" y="104"/>
                      <a:pt x="96" y="104"/>
                      <a:pt x="96" y="104"/>
                    </a:cubicBezTo>
                    <a:lnTo>
                      <a:pt x="96" y="154"/>
                    </a:lnTo>
                    <a:close/>
                    <a:moveTo>
                      <a:pt x="96" y="96"/>
                    </a:move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75"/>
                      <a:pt x="52" y="55"/>
                      <a:pt x="57" y="38"/>
                    </a:cubicBezTo>
                    <a:cubicBezTo>
                      <a:pt x="96" y="38"/>
                      <a:pt x="96" y="38"/>
                      <a:pt x="96" y="38"/>
                    </a:cubicBezTo>
                    <a:lnTo>
                      <a:pt x="96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19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9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입력˙출력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270000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입력값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270000" y="1819375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rPr>
                <a:solidFill/>
              </a:rPr>
              <a:t>• 시·도 : 서울</a:t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t>• 시·군·구 : 종로구</a:t>
            </a:r>
          </a:p>
          <a:p>
            <a:r>
              <a:t>• 동행자 :</a:t>
            </a:r>
          </a:p>
          <a:p>
            <a:r>
              <a:t>  - 할머니 (78세, 휠체어 수동, 체력 60%, "오래 못 걸어요")</a:t>
            </a:r>
          </a:p>
          <a:p>
            <a:r>
              <a:t>  - 어머니 (52세, 일반, 체력 85%)</a:t>
            </a:r>
          </a:p>
          <a:p>
            <a:r>
              <a:t>  - 손주 (8세, 아동, 체력 95%)</a:t>
            </a:r>
          </a:p>
          <a:p>
            <a:r>
              <a:t>• 테마 : 역사·궁궐</a:t>
            </a:r>
          </a:p>
          <a:p>
            <a:r>
              <a:t>• 선호음식 : 한식</a:t>
            </a:r>
          </a:p>
          <a:p>
            <a:r>
              <a:t>• 여행 날짜·시작 : 2026-06-10 · 09:30</a:t>
            </a:r>
          </a:p>
          <a:p>
            <a:r>
              <a:t>• 여행 시간 : 5시간</a:t>
            </a:r>
          </a:p>
        </p:txBody>
      </p:sp>
      <p:sp>
        <p:nvSpPr>
          <p:cNvPr id="134" name="Google Shape;134;p19"/>
          <p:cNvSpPr txBox="1"/>
          <p:nvPr/>
        </p:nvSpPr>
        <p:spPr>
          <a:xfrm>
            <a:off x="5061275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출력값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5061275" y="1819450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rPr>
                <a:solidFill/>
              </a:rPr>
              <a:t>동선: 광화문역 → 경복궁 → 통인시장 → 청계천 → 인사동</a:t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t>4 stops + 2 식사 · 거리 합 2.4km · 휠체어 호환 ✅</a:t>
            </a:r>
          </a:p>
          <a:p>
            <a:r>
              <a:t/>
            </a:r>
          </a:p>
          <a:p>
            <a:r>
              <a:t>multiGen 분기: 근정전에서 15분 split</a:t>
            </a:r>
          </a:p>
          <a:p>
            <a:r>
              <a:t>  • 할머니: 그늘 벤치 휴식 (회복)</a:t>
            </a:r>
          </a:p>
          <a:p>
            <a:r>
              <a:t>  • 어머니·손주: 경회루 산책 → 광화문 광장에서 재합류</a:t>
            </a:r>
          </a:p>
          <a:p>
            <a:r>
              <a:t/>
            </a:r>
          </a:p>
          <a:p>
            <a:r>
              <a:t>bonding 미션: "근정전에서 손주가 할머니께 학창시절 이야기 듣기"</a:t>
            </a:r>
          </a:p>
          <a:p>
            <a:r>
              <a:t/>
            </a:r>
          </a:p>
          <a:p>
            <a:r>
              <a:t>체력 시뮬: 시작 100/100/100 → 종료 42/76/89</a:t>
            </a:r>
          </a:p>
          <a:p>
            <a:r>
              <a:t>(할머니 30% 미만 직전에 자동 휴식 삽입 — 안전)</a:t>
            </a:r>
          </a:p>
          <a:p>
            <a:r>
              <a:t/>
            </a:r>
          </a:p>
          <a:p>
            <a:r>
              <a:t>Ennoia 응답 시간: 3 task 병렬 추론 · 총 14.8초</a:t>
            </a:r>
          </a:p>
        </p:txBody>
      </p:sp>
      <p:grpSp>
        <p:nvGrpSpPr>
          <p:cNvPr id="136" name="Google Shape;136;p19"/>
          <p:cNvGrpSpPr/>
          <p:nvPr/>
        </p:nvGrpSpPr>
        <p:grpSpPr>
          <a:xfrm>
            <a:off x="3951396" y="2838330"/>
            <a:ext cx="1206727" cy="552107"/>
            <a:chOff x="5340068" y="3633028"/>
            <a:chExt cx="1512000" cy="691777"/>
          </a:xfrm>
        </p:grpSpPr>
        <p:sp>
          <p:nvSpPr>
            <p:cNvPr id="137" name="Google Shape;137;p19"/>
            <p:cNvSpPr/>
            <p:nvPr/>
          </p:nvSpPr>
          <p:spPr>
            <a:xfrm>
              <a:off x="5340068" y="3698398"/>
              <a:ext cx="1512000" cy="60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5D8F1"/>
            </a:solidFill>
            <a:ln>
              <a:noFill/>
            </a:ln>
          </p:spPr>
          <p:txBody>
            <a:bodyPr anchorCtr="0" anchor="ctr" bIns="36475" lIns="72975" spcFirstLastPara="1" rIns="72975" wrap="square" tIns="36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" name="Google Shape;138;p19"/>
            <p:cNvGrpSpPr/>
            <p:nvPr/>
          </p:nvGrpSpPr>
          <p:grpSpPr>
            <a:xfrm>
              <a:off x="5657982" y="3633028"/>
              <a:ext cx="693905" cy="691777"/>
              <a:chOff x="5549900" y="6350"/>
              <a:chExt cx="998425" cy="995363"/>
            </a:xfrm>
          </p:grpSpPr>
          <p:sp>
            <p:nvSpPr>
              <p:cNvPr id="139" name="Google Shape;139;p19"/>
              <p:cNvSpPr/>
              <p:nvPr/>
            </p:nvSpPr>
            <p:spPr>
              <a:xfrm>
                <a:off x="6122988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9"/>
              <p:cNvSpPr/>
              <p:nvPr/>
            </p:nvSpPr>
            <p:spPr>
              <a:xfrm>
                <a:off x="6210300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9"/>
              <p:cNvSpPr/>
              <p:nvPr/>
            </p:nvSpPr>
            <p:spPr>
              <a:xfrm>
                <a:off x="6169025" y="131763"/>
                <a:ext cx="44450" cy="57150"/>
              </a:xfrm>
              <a:custGeom>
                <a:rect b="b" l="l" r="r" t="t"/>
                <a:pathLst>
                  <a:path extrusionOk="0" h="36" w="28">
                    <a:moveTo>
                      <a:pt x="0" y="0"/>
                    </a:moveTo>
                    <a:lnTo>
                      <a:pt x="0" y="19"/>
                    </a:lnTo>
                    <a:lnTo>
                      <a:pt x="9" y="19"/>
                    </a:lnTo>
                    <a:lnTo>
                      <a:pt x="9" y="36"/>
                    </a:lnTo>
                    <a:lnTo>
                      <a:pt x="28" y="36"/>
                    </a:lnTo>
                    <a:lnTo>
                      <a:pt x="28" y="17"/>
                    </a:lnTo>
                    <a:lnTo>
                      <a:pt x="19" y="17"/>
                    </a:lnTo>
                    <a:lnTo>
                      <a:pt x="1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9"/>
              <p:cNvSpPr/>
              <p:nvPr/>
            </p:nvSpPr>
            <p:spPr>
              <a:xfrm>
                <a:off x="6316663" y="230188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9"/>
              <p:cNvSpPr/>
              <p:nvPr/>
            </p:nvSpPr>
            <p:spPr>
              <a:xfrm>
                <a:off x="6138863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9"/>
              <p:cNvSpPr/>
              <p:nvPr/>
            </p:nvSpPr>
            <p:spPr>
              <a:xfrm>
                <a:off x="6213475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9"/>
              <p:cNvSpPr/>
              <p:nvPr/>
            </p:nvSpPr>
            <p:spPr>
              <a:xfrm>
                <a:off x="6175375" y="792163"/>
                <a:ext cx="46038" cy="60325"/>
              </a:xfrm>
              <a:custGeom>
                <a:rect b="b" l="l" r="r" t="t"/>
                <a:pathLst>
                  <a:path extrusionOk="0" h="38" w="29">
                    <a:moveTo>
                      <a:pt x="20" y="19"/>
                    </a:moveTo>
                    <a:lnTo>
                      <a:pt x="29" y="19"/>
                    </a:lnTo>
                    <a:lnTo>
                      <a:pt x="29" y="0"/>
                    </a:lnTo>
                    <a:lnTo>
                      <a:pt x="10" y="0"/>
                    </a:lnTo>
                    <a:lnTo>
                      <a:pt x="10" y="19"/>
                    </a:lnTo>
                    <a:lnTo>
                      <a:pt x="0" y="19"/>
                    </a:lnTo>
                    <a:lnTo>
                      <a:pt x="0" y="38"/>
                    </a:lnTo>
                    <a:lnTo>
                      <a:pt x="20" y="38"/>
                    </a:lnTo>
                    <a:lnTo>
                      <a:pt x="2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9"/>
              <p:cNvSpPr/>
              <p:nvPr/>
            </p:nvSpPr>
            <p:spPr>
              <a:xfrm>
                <a:off x="6327775" y="701675"/>
                <a:ext cx="45900" cy="44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9"/>
              <p:cNvSpPr/>
              <p:nvPr/>
            </p:nvSpPr>
            <p:spPr>
              <a:xfrm>
                <a:off x="6169025" y="488950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9"/>
              <p:cNvSpPr/>
              <p:nvPr/>
            </p:nvSpPr>
            <p:spPr>
              <a:xfrm>
                <a:off x="6243638" y="360363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9"/>
              <p:cNvSpPr/>
              <p:nvPr/>
            </p:nvSpPr>
            <p:spPr>
              <a:xfrm>
                <a:off x="6243638" y="587375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9"/>
              <p:cNvSpPr/>
              <p:nvPr/>
            </p:nvSpPr>
            <p:spPr>
              <a:xfrm>
                <a:off x="6281738" y="481013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9"/>
              <p:cNvSpPr/>
              <p:nvPr/>
            </p:nvSpPr>
            <p:spPr>
              <a:xfrm>
                <a:off x="6380163" y="477838"/>
                <a:ext cx="57300" cy="525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9"/>
              <p:cNvSpPr/>
              <p:nvPr/>
            </p:nvSpPr>
            <p:spPr>
              <a:xfrm>
                <a:off x="6319838" y="11271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9"/>
              <p:cNvSpPr/>
              <p:nvPr/>
            </p:nvSpPr>
            <p:spPr>
              <a:xfrm>
                <a:off x="6450013" y="279400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9"/>
              <p:cNvSpPr/>
              <p:nvPr/>
            </p:nvSpPr>
            <p:spPr>
              <a:xfrm>
                <a:off x="5549900" y="6350"/>
                <a:ext cx="679450" cy="995363"/>
              </a:xfrm>
              <a:custGeom>
                <a:rect b="b" l="l" r="r" t="t"/>
                <a:pathLst>
                  <a:path extrusionOk="0" h="262" w="179">
                    <a:moveTo>
                      <a:pt x="163" y="242"/>
                    </a:moveTo>
                    <a:cubicBezTo>
                      <a:pt x="147" y="242"/>
                      <a:pt x="147" y="242"/>
                      <a:pt x="147" y="242"/>
                    </a:cubicBezTo>
                    <a:cubicBezTo>
                      <a:pt x="147" y="246"/>
                      <a:pt x="147" y="246"/>
                      <a:pt x="147" y="246"/>
                    </a:cubicBezTo>
                    <a:cubicBezTo>
                      <a:pt x="131" y="246"/>
                      <a:pt x="131" y="246"/>
                      <a:pt x="131" y="246"/>
                    </a:cubicBezTo>
                    <a:cubicBezTo>
                      <a:pt x="101" y="246"/>
                      <a:pt x="72" y="234"/>
                      <a:pt x="50" y="213"/>
                    </a:cubicBezTo>
                    <a:cubicBezTo>
                      <a:pt x="28" y="191"/>
                      <a:pt x="16" y="162"/>
                      <a:pt x="16" y="131"/>
                    </a:cubicBezTo>
                    <a:cubicBezTo>
                      <a:pt x="16" y="100"/>
                      <a:pt x="28" y="71"/>
                      <a:pt x="50" y="50"/>
                    </a:cubicBezTo>
                    <a:cubicBezTo>
                      <a:pt x="72" y="28"/>
                      <a:pt x="101" y="16"/>
                      <a:pt x="131" y="16"/>
                    </a:cubicBezTo>
                    <a:cubicBezTo>
                      <a:pt x="147" y="16"/>
                      <a:pt x="147" y="16"/>
                      <a:pt x="147" y="16"/>
                    </a:cubicBezTo>
                    <a:cubicBezTo>
                      <a:pt x="147" y="20"/>
                      <a:pt x="147" y="20"/>
                      <a:pt x="147" y="20"/>
                    </a:cubicBezTo>
                    <a:cubicBezTo>
                      <a:pt x="163" y="20"/>
                      <a:pt x="163" y="20"/>
                      <a:pt x="163" y="20"/>
                    </a:cubicBezTo>
                    <a:cubicBezTo>
                      <a:pt x="163" y="24"/>
                      <a:pt x="163" y="24"/>
                      <a:pt x="163" y="24"/>
                    </a:cubicBezTo>
                    <a:cubicBezTo>
                      <a:pt x="179" y="24"/>
                      <a:pt x="179" y="24"/>
                      <a:pt x="179" y="24"/>
                    </a:cubicBezTo>
                    <a:cubicBezTo>
                      <a:pt x="179" y="8"/>
                      <a:pt x="179" y="8"/>
                      <a:pt x="179" y="8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4"/>
                      <a:pt x="163" y="4"/>
                      <a:pt x="163" y="4"/>
                    </a:cubicBezTo>
                    <a:cubicBezTo>
                      <a:pt x="147" y="4"/>
                      <a:pt x="147" y="4"/>
                      <a:pt x="147" y="4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59" y="0"/>
                      <a:pt x="0" y="59"/>
                      <a:pt x="0" y="131"/>
                    </a:cubicBezTo>
                    <a:cubicBezTo>
                      <a:pt x="0" y="204"/>
                      <a:pt x="59" y="262"/>
                      <a:pt x="131" y="262"/>
                    </a:cubicBezTo>
                    <a:cubicBezTo>
                      <a:pt x="147" y="262"/>
                      <a:pt x="147" y="262"/>
                      <a:pt x="147" y="262"/>
                    </a:cubicBezTo>
                    <a:cubicBezTo>
                      <a:pt x="147" y="258"/>
                      <a:pt x="147" y="258"/>
                      <a:pt x="147" y="258"/>
                    </a:cubicBezTo>
                    <a:cubicBezTo>
                      <a:pt x="163" y="258"/>
                      <a:pt x="163" y="258"/>
                      <a:pt x="163" y="258"/>
                    </a:cubicBezTo>
                    <a:cubicBezTo>
                      <a:pt x="163" y="254"/>
                      <a:pt x="163" y="254"/>
                      <a:pt x="163" y="254"/>
                    </a:cubicBezTo>
                    <a:cubicBezTo>
                      <a:pt x="179" y="254"/>
                      <a:pt x="179" y="254"/>
                      <a:pt x="179" y="254"/>
                    </a:cubicBezTo>
                    <a:cubicBezTo>
                      <a:pt x="179" y="238"/>
                      <a:pt x="179" y="238"/>
                      <a:pt x="179" y="238"/>
                    </a:cubicBezTo>
                    <a:cubicBezTo>
                      <a:pt x="163" y="238"/>
                      <a:pt x="163" y="238"/>
                      <a:pt x="163" y="238"/>
                    </a:cubicBezTo>
                    <a:lnTo>
                      <a:pt x="163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9"/>
              <p:cNvSpPr/>
              <p:nvPr/>
            </p:nvSpPr>
            <p:spPr>
              <a:xfrm>
                <a:off x="6319838" y="833438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9"/>
              <p:cNvSpPr/>
              <p:nvPr/>
            </p:nvSpPr>
            <p:spPr>
              <a:xfrm>
                <a:off x="6450013" y="65246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9"/>
              <p:cNvSpPr/>
              <p:nvPr/>
            </p:nvSpPr>
            <p:spPr>
              <a:xfrm>
                <a:off x="6486525" y="473075"/>
                <a:ext cx="618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9"/>
              <p:cNvSpPr/>
              <p:nvPr/>
            </p:nvSpPr>
            <p:spPr>
              <a:xfrm>
                <a:off x="5667375" y="123825"/>
                <a:ext cx="455613" cy="758825"/>
              </a:xfrm>
              <a:custGeom>
                <a:rect b="b" l="l" r="r" t="t"/>
                <a:pathLst>
                  <a:path extrusionOk="0" h="200" w="120">
                    <a:moveTo>
                      <a:pt x="120" y="104"/>
                    </a:moveTo>
                    <a:cubicBezTo>
                      <a:pt x="120" y="96"/>
                      <a:pt x="120" y="96"/>
                      <a:pt x="120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12" y="38"/>
                      <a:pt x="112" y="38"/>
                      <a:pt x="112" y="38"/>
                    </a:cubicBezTo>
                    <a:cubicBezTo>
                      <a:pt x="112" y="30"/>
                      <a:pt x="112" y="30"/>
                      <a:pt x="112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3" y="0"/>
                      <a:pt x="102" y="0"/>
                      <a:pt x="100" y="0"/>
                    </a:cubicBezTo>
                    <a:cubicBezTo>
                      <a:pt x="99" y="0"/>
                      <a:pt x="98" y="0"/>
                      <a:pt x="96" y="0"/>
                    </a:cubicBezTo>
                    <a:cubicBezTo>
                      <a:pt x="96" y="30"/>
                      <a:pt x="96" y="30"/>
                      <a:pt x="96" y="30"/>
                    </a:cubicBezTo>
                    <a:cubicBezTo>
                      <a:pt x="59" y="30"/>
                      <a:pt x="59" y="30"/>
                      <a:pt x="59" y="30"/>
                    </a:cubicBezTo>
                    <a:cubicBezTo>
                      <a:pt x="63" y="20"/>
                      <a:pt x="66" y="12"/>
                      <a:pt x="71" y="5"/>
                    </a:cubicBezTo>
                    <a:cubicBezTo>
                      <a:pt x="67" y="6"/>
                      <a:pt x="63" y="7"/>
                      <a:pt x="59" y="9"/>
                    </a:cubicBezTo>
                    <a:cubicBezTo>
                      <a:pt x="56" y="15"/>
                      <a:pt x="53" y="23"/>
                      <a:pt x="51" y="30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26" y="33"/>
                      <a:pt x="24" y="35"/>
                      <a:pt x="22" y="38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44" y="56"/>
                      <a:pt x="41" y="76"/>
                      <a:pt x="41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8"/>
                      <a:pt x="0" y="99"/>
                      <a:pt x="0" y="100"/>
                    </a:cubicBezTo>
                    <a:cubicBezTo>
                      <a:pt x="0" y="102"/>
                      <a:pt x="0" y="103"/>
                      <a:pt x="0" y="104"/>
                    </a:cubicBezTo>
                    <a:cubicBezTo>
                      <a:pt x="41" y="104"/>
                      <a:pt x="41" y="104"/>
                      <a:pt x="41" y="104"/>
                    </a:cubicBezTo>
                    <a:cubicBezTo>
                      <a:pt x="41" y="122"/>
                      <a:pt x="43" y="138"/>
                      <a:pt x="47" y="154"/>
                    </a:cubicBezTo>
                    <a:cubicBezTo>
                      <a:pt x="16" y="154"/>
                      <a:pt x="16" y="154"/>
                      <a:pt x="16" y="154"/>
                    </a:cubicBezTo>
                    <a:cubicBezTo>
                      <a:pt x="17" y="156"/>
                      <a:pt x="19" y="159"/>
                      <a:pt x="21" y="162"/>
                    </a:cubicBezTo>
                    <a:cubicBezTo>
                      <a:pt x="48" y="162"/>
                      <a:pt x="48" y="162"/>
                      <a:pt x="48" y="162"/>
                    </a:cubicBezTo>
                    <a:cubicBezTo>
                      <a:pt x="51" y="173"/>
                      <a:pt x="55" y="183"/>
                      <a:pt x="59" y="191"/>
                    </a:cubicBezTo>
                    <a:cubicBezTo>
                      <a:pt x="63" y="193"/>
                      <a:pt x="67" y="195"/>
                      <a:pt x="71" y="196"/>
                    </a:cubicBezTo>
                    <a:cubicBezTo>
                      <a:pt x="65" y="187"/>
                      <a:pt x="60" y="175"/>
                      <a:pt x="57" y="162"/>
                    </a:cubicBezTo>
                    <a:cubicBezTo>
                      <a:pt x="96" y="162"/>
                      <a:pt x="96" y="162"/>
                      <a:pt x="96" y="162"/>
                    </a:cubicBezTo>
                    <a:cubicBezTo>
                      <a:pt x="96" y="200"/>
                      <a:pt x="96" y="200"/>
                      <a:pt x="96" y="200"/>
                    </a:cubicBezTo>
                    <a:cubicBezTo>
                      <a:pt x="98" y="200"/>
                      <a:pt x="99" y="200"/>
                      <a:pt x="100" y="200"/>
                    </a:cubicBezTo>
                    <a:cubicBezTo>
                      <a:pt x="102" y="200"/>
                      <a:pt x="103" y="200"/>
                      <a:pt x="104" y="200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12" y="162"/>
                      <a:pt x="112" y="162"/>
                      <a:pt x="112" y="162"/>
                    </a:cubicBezTo>
                    <a:cubicBezTo>
                      <a:pt x="112" y="154"/>
                      <a:pt x="112" y="154"/>
                      <a:pt x="112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lnTo>
                      <a:pt x="120" y="104"/>
                    </a:lnTo>
                    <a:close/>
                    <a:moveTo>
                      <a:pt x="96" y="154"/>
                    </a:moveTo>
                    <a:cubicBezTo>
                      <a:pt x="55" y="154"/>
                      <a:pt x="55" y="154"/>
                      <a:pt x="55" y="154"/>
                    </a:cubicBezTo>
                    <a:cubicBezTo>
                      <a:pt x="51" y="139"/>
                      <a:pt x="49" y="122"/>
                      <a:pt x="49" y="104"/>
                    </a:cubicBezTo>
                    <a:cubicBezTo>
                      <a:pt x="96" y="104"/>
                      <a:pt x="96" y="104"/>
                      <a:pt x="96" y="104"/>
                    </a:cubicBezTo>
                    <a:lnTo>
                      <a:pt x="96" y="154"/>
                    </a:lnTo>
                    <a:close/>
                    <a:moveTo>
                      <a:pt x="96" y="96"/>
                    </a:move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75"/>
                      <a:pt x="52" y="55"/>
                      <a:pt x="57" y="38"/>
                    </a:cubicBezTo>
                    <a:cubicBezTo>
                      <a:pt x="96" y="38"/>
                      <a:pt x="96" y="38"/>
                      <a:pt x="96" y="38"/>
                    </a:cubicBezTo>
                    <a:lnTo>
                      <a:pt x="96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9" name="Google Shape;159;p19"/>
          <p:cNvSpPr/>
          <p:nvPr/>
        </p:nvSpPr>
        <p:spPr>
          <a:xfrm>
            <a:off x="21400" y="2076225"/>
            <a:ext cx="9144000" cy="1166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페이지 추가해서 사용하셔도 됩니다.</a:t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20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 시연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36425" y="1345875"/>
            <a:ext cx="8528700" cy="3427200"/>
          </a:xfrm>
          <a:prstGeom prst="roundRect">
            <a:avLst>
              <a:gd fmla="val 5248" name="adj"/>
            </a:avLst>
          </a:prstGeom>
          <a:solidFill>
            <a:srgbClr val="D6E9F7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/>
                <a:latin typeface="Noto Sans KR"/>
                <a:ea typeface="Noto Sans KR"/>
                <a:cs typeface="Noto Sans KR"/>
                <a:sym typeface="Noto Sans KR"/>
              </a:rPr>
              <a:t>[Ennoia Studio 채팅 캡처 자리]</a:t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sz="900" b="1">
                <a:latin typeface="Noto Sans KR"/>
              </a:rPr>
              <a:t/>
            </a:r>
          </a:p>
          <a:p>
            <a:r>
              <a:rPr sz="900" b="1">
                <a:latin typeface="Noto Sans KR"/>
              </a:rPr>
              <a:t>사용자 입력: "서울 종로구의 무장애 관광지 3곳만 짧게 알려줘"</a:t>
            </a:r>
          </a:p>
          <a:p>
            <a:r>
              <a:rPr sz="900" b="1">
                <a:latin typeface="Noto Sans KR"/>
              </a:rPr>
              <a:t>→ KTO MCP 도구 자동 호출: kto_barrier_free_locationBasedList2</a:t>
            </a:r>
          </a:p>
          <a:p>
            <a:r>
              <a:rPr sz="900" b="1">
                <a:latin typeface="Noto Sans KR"/>
              </a:rPr>
              <a:t>→ Ennoia 응답:</a:t>
            </a:r>
          </a:p>
          <a:p>
            <a:r>
              <a:rPr sz="900" b="1">
                <a:latin typeface="Noto Sans KR"/>
              </a:rPr>
              <a:t>  • 대한민국역사박물관 — 현대사 박물관(세종대로 198)</a:t>
            </a:r>
          </a:p>
          <a:p>
            <a:r>
              <a:rPr sz="900" b="1">
                <a:latin typeface="Noto Sans KR"/>
              </a:rPr>
              <a:t>  • 세종문화회관 — 공연·전시 복합문화공간(세종대로 175)</a:t>
            </a:r>
          </a:p>
          <a:p>
            <a:r>
              <a:rPr sz="900" b="1">
                <a:latin typeface="Noto Sans KR"/>
              </a:rPr>
              <a:t>  • 광화문광장 — 도심 보행 광장(세종대로 172)</a:t>
            </a:r>
          </a:p>
          <a:p>
            <a:r>
              <a:rPr sz="900" b="1">
                <a:latin typeface="Noto Sans KR"/>
              </a:rPr>
              <a:t/>
            </a:r>
          </a:p>
          <a:p>
            <a:r>
              <a:rPr sz="900" b="1">
                <a:latin typeface="Noto Sans KR"/>
              </a:rPr>
              <a:t>시연 시 Studio 화면 캡처 1장 삽입 권장 (KTO MCP 호출 흔적 포함)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1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1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 시연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236425" y="1345875"/>
            <a:ext cx="8528700" cy="3427200"/>
          </a:xfrm>
          <a:prstGeom prst="roundRect">
            <a:avLst>
              <a:gd fmla="val 5248" name="adj"/>
            </a:avLst>
          </a:prstGeom>
          <a:solidFill>
            <a:srgbClr val="D6E9F7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/>
                <a:latin typeface="Noto Sans KR"/>
                <a:ea typeface="Noto Sans KR"/>
                <a:cs typeface="Noto Sans KR"/>
                <a:sym typeface="Noto Sans KR"/>
              </a:rPr>
              <a:t>[아키텍처 — 구글 슬라이드 도형으로 그리기 권장]</a:t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sz="900" b="1">
                <a:latin typeface="Noto Sans KR"/>
              </a:rPr>
              <a:t/>
            </a:r>
          </a:p>
          <a:p>
            <a:r>
              <a:rPr sz="900" b="1">
                <a:latin typeface="Noto Sans KR"/>
              </a:rPr>
              <a:t>① 사용자 입력 (Next.js + Tailwind UI)</a:t>
            </a:r>
          </a:p>
          <a:p>
            <a:r>
              <a:rPr sz="900" b="1">
                <a:latin typeface="Noto Sans KR"/>
              </a:rPr>
              <a:t>      ↓ POST /api/plan</a:t>
            </a:r>
          </a:p>
          <a:p>
            <a:r>
              <a:rPr sz="900" b="1">
                <a:latin typeface="Noto Sans KR"/>
              </a:rPr>
              <a:t>② Next.js API Route (course-builder)</a:t>
            </a:r>
          </a:p>
          <a:p>
            <a:r>
              <a:rPr sz="900" b="1">
                <a:latin typeface="Noto Sans KR"/>
              </a:rPr>
              <a:t>   • 병렬 데이터 수집 (5초 timeout · 24h cache)</a:t>
            </a:r>
          </a:p>
          <a:p>
            <a:r>
              <a:rPr sz="900" b="1">
                <a:latin typeface="Noto Sans KR"/>
              </a:rPr>
              <a:t>     KTO 5종 · 행안부 식당 4종 · KCISA · Open-Meteo</a:t>
            </a:r>
          </a:p>
          <a:p>
            <a:r>
              <a:rPr sz="900" b="1">
                <a:latin typeface="Noto Sans KR"/>
              </a:rPr>
              <a:t>     응급실 · 지하철 엘리베이터 · 장애인 화장실</a:t>
            </a:r>
          </a:p>
          <a:p>
            <a:r>
              <a:rPr sz="900" b="1">
                <a:latin typeface="Noto Sans KR"/>
              </a:rPr>
              <a:t>   • Ennoia 에이전트 3종 병렬 추론 (pace · wellness · multiGen)</a:t>
            </a:r>
          </a:p>
          <a:p>
            <a:r>
              <a:rPr sz="900" b="1">
                <a:latin typeface="Noto Sans KR"/>
              </a:rPr>
              <a:t>     POST api.ennoia.so/api/preset/v2/chat/completions</a:t>
            </a:r>
          </a:p>
          <a:p>
            <a:r>
              <a:rPr sz="900" b="1">
                <a:latin typeface="Noto Sans KR"/>
              </a:rPr>
              <a:t>     headers: project + apiKey + X-ENNOIA-USER-ID</a:t>
            </a:r>
          </a:p>
          <a:p>
            <a:r>
              <a:rPr sz="900" b="1">
                <a:latin typeface="Noto Sans KR"/>
              </a:rPr>
              <a:t>   • 결과 조립 → JSON</a:t>
            </a:r>
          </a:p>
          <a:p>
            <a:r>
              <a:rPr sz="900" b="1">
                <a:latin typeface="Noto Sans KR"/>
              </a:rPr>
              <a:t>      ↓</a:t>
            </a:r>
          </a:p>
          <a:p>
            <a:r>
              <a:rPr sz="900" b="1">
                <a:latin typeface="Noto Sans KR"/>
              </a:rPr>
              <a:t>③ 결과 페이지: 동선 카드 · 사진 · 거리 · 무장애 배지 ·</a:t>
            </a:r>
          </a:p>
          <a:p>
            <a:r>
              <a:rPr sz="900" b="1">
                <a:latin typeface="Noto Sans KR"/>
              </a:rPr>
              <a:t>   혼잡도 · 인증 · 웰니스 · 반려동물 ·</a:t>
            </a:r>
          </a:p>
          <a:p>
            <a:r>
              <a:rPr sz="900" b="1">
                <a:latin typeface="Noto Sans KR"/>
              </a:rPr>
              <a:t>   WeatherCard · SkippedSpotsCard · EmergencyCard ·</a:t>
            </a:r>
          </a:p>
          <a:p>
            <a:r>
              <a:rPr sz="900" b="1">
                <a:latin typeface="Noto Sans KR"/>
              </a:rPr>
              <a:t>   NearbyToiletsCard · RecommendedPool</a:t>
            </a:r>
          </a:p>
          <a:p>
            <a:r>
              <a:rPr sz="900" b="1">
                <a:latin typeface="Noto Sans KR"/>
              </a:rPr>
              <a:t/>
            </a:r>
          </a:p>
          <a:p>
            <a:r>
              <a:rPr sz="900" b="1">
                <a:latin typeface="Noto Sans KR"/>
              </a:rPr>
              <a:t>총 응답 시간: 약 15초 (3 task 병렬)</a:t>
            </a:r>
          </a:p>
        </p:txBody>
      </p:sp>
      <p:pic>
        <p:nvPicPr>
          <p:cNvPr id="176" name="Picture 175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375" y="1345875"/>
            <a:ext cx="6092799" cy="342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2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2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 시연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236425" y="1345875"/>
            <a:ext cx="8528700" cy="3427200"/>
          </a:xfrm>
          <a:prstGeom prst="roundRect">
            <a:avLst>
              <a:gd fmla="val 5248" name="adj"/>
            </a:avLst>
          </a:prstGeom>
          <a:solidFill>
            <a:srgbClr val="D6E9F7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/>
                <a:latin typeface="Noto Sans KR"/>
                <a:ea typeface="Noto Sans KR"/>
                <a:cs typeface="Noto Sans KR"/>
                <a:sym typeface="Noto Sans KR"/>
              </a:rPr>
              <a:t>서비스 시연 영상 (optional)</a:t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sz="900" b="1">
                <a:latin typeface="Noto Sans KR"/>
              </a:rPr>
              <a:t/>
            </a:r>
          </a:p>
          <a:p>
            <a:r>
              <a:rPr sz="900" b="1">
                <a:latin typeface="Noto Sans KR"/>
              </a:rPr>
              <a:t>[YouTube URL 또는 QR 코드 자리]</a:t>
            </a:r>
          </a:p>
          <a:p>
            <a:r>
              <a:rPr sz="900" b="1">
                <a:latin typeface="Noto Sans KR"/>
              </a:rPr>
              <a:t/>
            </a:r>
          </a:p>
          <a:p>
            <a:r>
              <a:rPr sz="900" b="1">
                <a:latin typeface="Noto Sans KR"/>
              </a:rPr>
              <a:t>시나리오 (3~5분):</a:t>
            </a:r>
          </a:p>
          <a:p>
            <a:r>
              <a:rPr sz="900" b="1">
                <a:latin typeface="Noto Sans KR"/>
              </a:rPr>
              <a:t>0:00~0:30 문제 제기 — 휠체어 어머니와 가족 여행 경험</a:t>
            </a:r>
          </a:p>
          <a:p>
            <a:r>
              <a:rPr sz="900" b="1">
                <a:latin typeface="Noto Sans KR"/>
              </a:rPr>
              <a:t>0:30~2:00 입력 → 결과 시연</a:t>
            </a:r>
          </a:p>
          <a:p>
            <a:r>
              <a:rPr sz="900" b="1">
                <a:latin typeface="Noto Sans KR"/>
              </a:rPr>
              <a:t>2:00~3:00 결과 페이지 핵심 (무장애 · 다른 조합 · narrative · 휴무 회피)</a:t>
            </a:r>
          </a:p>
          <a:p>
            <a:r>
              <a:rPr sz="900" b="1">
                <a:latin typeface="Noto Sans KR"/>
              </a:rPr>
              <a:t>3:00~4:00 Ennoia 통합 강조 (Studio · MCP)</a:t>
            </a:r>
          </a:p>
          <a:p>
            <a:r>
              <a:rPr sz="900" b="1">
                <a:latin typeface="Noto Sans KR"/>
              </a:rPr>
              <a:t>4:00~5:00 차별점 + 기대 효과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Google Shape;188;p23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3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한국관광공사 OpenAPI 활용 경험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191" name="Google Shape;191;p23"/>
          <p:cNvGraphicFramePr/>
          <p:nvPr/>
        </p:nvGraphicFramePr>
        <p:xfrm>
          <a:off x="2364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{0CC0E3AA-F70F-4918-8CF2-4A8C3B618530}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 개발에 활용한 한국관광공사 OpenAPI List</a:t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3"/>
          <p:cNvSpPr txBox="1"/>
          <p:nvPr/>
        </p:nvSpPr>
        <p:spPr>
          <a:xfrm>
            <a:off x="4698925" y="2162997"/>
            <a:ext cx="4208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0" spcFirstLastPara="1" rIns="0" wrap="square" tIns="180000">
            <a:noAutofit/>
          </a:bodyPr>
          <a:lstStyle/>
          <a:p>
            <a:pPr indent="-1206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KR"/>
              <a:buChar char="⬝"/>
            </a:pPr>
            <a:r>
              <a:rPr lang="ko" sz="1100">
                <a:solidFill/>
                <a:latin typeface="Noto Sans KR"/>
                <a:ea typeface="Noto Sans KR"/>
                <a:cs typeface="Noto Sans KR"/>
                <a:sym typeface="Noto Sans KR"/>
              </a:rPr>
              <a:t>• 행정안전부 모범음식점/일반음식점/휴게음식점/관광식당 API (4종)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sz="1100">
                <a:latin typeface="Noto Sans KR"/>
              </a:rPr>
              <a:t>• 행정안전부 공중화장실 표준데이터셋 (장애인 화장실 매칭)</a:t>
            </a:r>
          </a:p>
          <a:p>
            <a:r>
              <a:rPr sz="1100">
                <a:latin typeface="Noto Sans KR"/>
              </a:rPr>
              <a:t>• KCISA 시티투어 맛집 API (광역 도시 맛집 fallback)</a:t>
            </a:r>
          </a:p>
          <a:p>
            <a:r>
              <a:rPr sz="1100">
                <a:latin typeface="Noto Sans KR"/>
              </a:rPr>
              <a:t>• Open-Meteo 기상 API (실시간 날씨 → preferIndoor 가산점)</a:t>
            </a:r>
          </a:p>
          <a:p>
            <a:r>
              <a:rPr sz="1100">
                <a:latin typeface="Noto Sans KR"/>
              </a:rPr>
              <a:t>• 국립중앙의료원 응급의료기관 API (응급실 2곳 매핑)</a:t>
            </a:r>
          </a:p>
          <a:p>
            <a:r>
              <a:rPr sz="1100">
                <a:latin typeface="Noto Sans KR"/>
              </a:rPr>
              <a:t>• 서울 열린데이터광장 지하철 엘리베이터 데이터</a:t>
            </a:r>
          </a:p>
          <a:p>
            <a:r>
              <a:rPr sz="1100">
                <a:latin typeface="Noto Sans KR"/>
              </a:rPr>
              <a:t/>
            </a:r>
          </a:p>
          <a:p>
            <a:r>
              <a:rPr sz="1100">
                <a:latin typeface="Noto Sans KR"/>
              </a:rPr>
              <a:t>＋ Ennoia 플랫폼 (preset/v2/chat/completions)</a:t>
            </a:r>
          </a:p>
          <a:p>
            <a:r>
              <a:rPr sz="1100">
                <a:latin typeface="Noto Sans KR"/>
              </a:rPr>
              <a:t>  : pace · wellness · multiGen 추론 3종 (gpt-4o-mini)</a:t>
            </a:r>
          </a:p>
        </p:txBody>
      </p:sp>
      <p:graphicFrame>
        <p:nvGraphicFramePr>
          <p:cNvPr id="193" name="Google Shape;193;p23"/>
          <p:cNvGraphicFramePr/>
          <p:nvPr/>
        </p:nvGraphicFramePr>
        <p:xfrm>
          <a:off x="46990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{0CC0E3AA-F70F-4918-8CF2-4A8C3B618530}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 개발에 활용한 한국관광공사 OpenAPI 외 API, 파일 데이터, 추가자료</a:t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4" name="Google Shape;194;p23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36408" y="219572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3"/>
          <p:cNvPicPr preferRelativeResize="0"/>
          <p:nvPr/>
        </p:nvPicPr>
        <p:blipFill rotWithShape="1">
          <a:blip r:embed="rId4">
            <a:alphaModFix amt="7990"/>
          </a:blip>
          <a:srcRect b="0" l="0" r="0" t="0"/>
          <a:stretch/>
        </p:blipFill>
        <p:spPr>
          <a:xfrm>
            <a:off x="236408" y="276992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36408" y="334412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 rotWithShape="1">
          <a:blip r:embed="rId5">
            <a:alphaModFix amt="7990"/>
          </a:blip>
          <a:srcRect b="0" l="0" r="0" t="0"/>
          <a:stretch/>
        </p:blipFill>
        <p:spPr>
          <a:xfrm>
            <a:off x="236408" y="3918325"/>
            <a:ext cx="4059834" cy="48523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1006700" y="2482825"/>
            <a:ext cx="3640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KorService2 — areaBasedList2, detailCommon2, detailIntro2, detailInfo2, detailImage2 (관광지/식당 기본·상세)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1006696" y="305703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KorWithService1/2 — 휠체어·엘리베이터·화장실·경사로·인력 25항목 (본 서비스 핵심 데이터)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1006696" y="3631234"/>
            <a:ext cx="3581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KorPetTourService2 — 반려동물 테마 전용 추천 풀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1006696" y="420543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WellnessTursmService — 웰니스 테마 전용 풀 (langDivCd=ko)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430505" y="2236162"/>
            <a:ext cx="3315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430505" y="2810362"/>
            <a:ext cx="3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426461" y="3380518"/>
            <a:ext cx="339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426461" y="3954718"/>
            <a:ext cx="3438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960228" y="2284686"/>
            <a:ext cx="29436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국문 관광정보 서비스</a:t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960228" y="2858886"/>
            <a:ext cx="2996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무장애 여행 정보 서비스</a:t>
            </a:r>
            <a:endParaRPr sz="1117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960228" y="3433085"/>
            <a:ext cx="2923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반려동물 동반여행 서비스</a:t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960228" y="4007285"/>
            <a:ext cx="2891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웰니스 관광정보 서비스</a:t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315825" y="1153150"/>
            <a:ext cx="41292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※ 실제 활용한 KTO OpenAPI 총 5종 (위 4개 + 관광지 집중률 방문자 추이 예측 정보 서비스 — TatsCnctrRateService, 혼잡도 🟢🟡🔴 표시).</a:t>
            </a:r>
            <a:br>
              <a:rPr lang="ko" sz="721">
                <a:latin typeface="Noto Sans KR"/>
                <a:ea typeface="Noto Sans KR"/>
                <a:cs typeface="Noto Sans KR"/>
                <a:sym typeface="Noto Sans KR"/>
              </a:rPr>
            </a:b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sz="721">
                <a:latin typeface="Noto Sans KR"/>
              </a:rPr>
              <a:t>   구글폼 ⑤ 활용 API 선택 시 5종 모두 체크 (해당 소개자료에 작성한 리스트와 동일하게 제출).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24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4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시행착오 &amp; 개선시도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18" name="Google Shape;218;p24"/>
          <p:cNvGraphicFramePr/>
          <p:nvPr/>
        </p:nvGraphicFramePr>
        <p:xfrm>
          <a:off x="2364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{0CC0E3AA-F70F-4918-8CF2-4A8C3B618530}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시행착오</a:t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24"/>
          <p:cNvSpPr txBox="1"/>
          <p:nvPr/>
        </p:nvSpPr>
        <p:spPr>
          <a:xfrm>
            <a:off x="236400" y="2014122"/>
            <a:ext cx="4208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0" spcFirstLastPara="1" rIns="0" wrap="square" tIns="180000">
            <a:noAutofit/>
          </a:bodyPr>
          <a:lstStyle/>
          <a:p>
            <a:pPr indent="-1206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KR"/>
              <a:buChar char="⬝"/>
            </a:pPr>
            <a:r>
              <a:rPr lang="ko" sz="1100">
                <a:solidFill/>
                <a:latin typeface="Noto Sans KR"/>
                <a:ea typeface="Noto Sans KR"/>
                <a:cs typeface="Noto Sans KR"/>
                <a:sym typeface="Noto Sans KR"/>
              </a:rPr>
              <a:t>• Ennoia 에이전트 호출 시 인증 실패 (MCP_CONNECTION_REQUIRED 반복)</a:t>
            </a:r>
            <a:endParaRPr b="1" sz="1100"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sz="1100">
                <a:latin typeface="Noto Sans KR"/>
              </a:rPr>
              <a:t>• 첫 preset 응답 시간이 41초로 너무 느림 (3 task 병렬 호출 시 사용자 대기 60초+)</a:t>
            </a:r>
          </a:p>
          <a:p>
            <a:r>
              <a:rPr sz="1100">
                <a:latin typeface="Noto Sans KR"/>
              </a:rPr>
              <a:t>• 외부 KCISA API 응답이 60초까지 늘어져 전체 여정 생성 시간이 70초까지 폭증</a:t>
            </a:r>
          </a:p>
          <a:p>
            <a:r>
              <a:rPr sz="1100">
                <a:latin typeface="Noto Sans KR"/>
              </a:rPr>
              <a:t>• 강남구·실내 테마에서 NO_COURSE 에러 — 모든 후보가 11시 개점, 사용자 시작 시간 10시 충돌</a:t>
            </a:r>
          </a:p>
          <a:p>
            <a:r>
              <a:rPr sz="1100">
                <a:latin typeface="Noto Sans KR"/>
              </a:rPr>
              <a:t/>
            </a:r>
          </a:p>
          <a:p>
            <a:r>
              <a:rPr sz="1100">
                <a:latin typeface="Noto Sans KR"/>
              </a:rPr>
              <a:t>＋ 프롬프트 튜닝</a:t>
            </a:r>
          </a:p>
          <a:p>
            <a:r>
              <a:rPr sz="1100">
                <a:latin typeface="Noto Sans KR"/>
              </a:rPr>
              <a:t>  • narrative 톤: 형식적 → "미리 다녀온 사람의 일기"처럼 1인칭</a:t>
            </a:r>
          </a:p>
          <a:p>
            <a:r>
              <a:rPr sz="1100">
                <a:latin typeface="Noto Sans KR"/>
              </a:rPr>
              <a:t>  • bonding 미션: 추상적 → "손주가 할머니께 학창시절 이야기 듣기" 같은 구체적 행동</a:t>
            </a:r>
          </a:p>
        </p:txBody>
      </p:sp>
      <p:graphicFrame>
        <p:nvGraphicFramePr>
          <p:cNvPr id="220" name="Google Shape;220;p24"/>
          <p:cNvGraphicFramePr/>
          <p:nvPr/>
        </p:nvGraphicFramePr>
        <p:xfrm>
          <a:off x="46990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{0CC0E3AA-F70F-4918-8CF2-4A8C3B618530}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개선시도</a:t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1" name="Google Shape;221;p24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4627308" y="224197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 rotWithShape="1">
          <a:blip r:embed="rId4">
            <a:alphaModFix amt="7990"/>
          </a:blip>
          <a:srcRect b="0" l="0" r="0" t="0"/>
          <a:stretch/>
        </p:blipFill>
        <p:spPr>
          <a:xfrm>
            <a:off x="4627308" y="281617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4627308" y="339037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/>
          <p:cNvPicPr preferRelativeResize="0"/>
          <p:nvPr/>
        </p:nvPicPr>
        <p:blipFill rotWithShape="1">
          <a:blip r:embed="rId5">
            <a:alphaModFix amt="7990"/>
          </a:blip>
          <a:srcRect b="0" l="0" r="0" t="0"/>
          <a:stretch/>
        </p:blipFill>
        <p:spPr>
          <a:xfrm>
            <a:off x="4627308" y="3964575"/>
            <a:ext cx="4059834" cy="48523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5397600" y="2529075"/>
            <a:ext cx="3640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HTTP 200 정상, KTO MCP 63개 도구 호출 성공 (kto_barrier_free_locationBasedList2 실호출 확인)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5397596" y="310328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41초 → 4.2초 (단순 JSON) / 14.8초 (긴 narrative) — 약 10배 단축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5397596" y="3677484"/>
            <a:ext cx="3581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70초 → 7.6초 — 약 9배 단축, 사용자 체감 응답 정상화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5397596" y="425168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>NO_COURSE 사라지고, 사용자가 "왜 안 되는지 + 어떻게 해야 하는지" 즉시 이해 가능</a:t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4821405" y="2282412"/>
            <a:ext cx="3315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4821405" y="2856612"/>
            <a:ext cx="3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4817361" y="3426768"/>
            <a:ext cx="339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4817361" y="4000968"/>
            <a:ext cx="3438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5351128" y="2330936"/>
            <a:ext cx="29436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Ennoia deploy log JSON을 분석해 user_id 필드가 32자 hex UUID(이메일 아님)임을 발견, X-ENNOIA-USER-ID 헤더 교체</a:t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5351128" y="2905136"/>
            <a:ext cx="2996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"추론전용" preset 신규 생성 (gpt-4o-mini, MCP 없음). 우리 백엔드가 이미 KTO 데이터 수집한다는 점 활용 — 추론과 데이터 수집 분리</a:t>
            </a:r>
            <a:endParaRPr sz="1117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5351128" y="3479335"/>
            <a:ext cx="2923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식당 fallback 체인 재정렬 (TourAPI → 행안부 → KCISA) + 모든 외부 호출에 AbortController 5초 timeout 적용</a:t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5351128" y="4053535"/>
            <a:ext cx="2891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openPicked 빈 배열일 때 닫힌 picked spot 유지 + 휴무 사유와 시간 변경 안내 함께 표시하는 로직 추가</a:t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Google Shape;241;p25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5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서비스</a:t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> 소개</a:t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우리 팀 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>를 마무리하며</a:t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44" name="Google Shape;244;p25"/>
          <p:cNvCxnSpPr/>
          <p:nvPr/>
        </p:nvCxnSpPr>
        <p:spPr>
          <a:xfrm rot="10800000">
            <a:off x="4580700" y="1484698"/>
            <a:ext cx="0" cy="329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25"/>
          <p:cNvSpPr txBox="1"/>
          <p:nvPr/>
        </p:nvSpPr>
        <p:spPr>
          <a:xfrm>
            <a:off x="236413" y="16666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기대효과 &amp; </a:t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발전계획</a:t>
            </a:r>
            <a:endParaRPr b="1"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236425" y="2173850"/>
            <a:ext cx="42693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solidFill/>
                <a:latin typeface="Noto Sans KR"/>
                <a:ea typeface="Noto Sans KR"/>
                <a:cs typeface="Noto Sans KR"/>
                <a:sym typeface="Noto Sans KR"/>
              </a:rPr>
              <a:t>제품 관점 (Product)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sz="1500">
                <a:latin typeface="Noto Sans KR"/>
              </a:rPr>
              <a:t>• "휠체어 어머니와 못 가" → "할머니도 같이 갈 수 있어"로 가족 여행 가능성 확장</a:t>
            </a:r>
          </a:p>
          <a:p>
            <a:r>
              <a:rPr sz="1500">
                <a:latin typeface="Noto Sans KR"/>
              </a:rPr>
              <a:t>• 무장애 + 휴무 + 응급실 확인을 수십 개 탭 → 한 화면으로 압축</a:t>
            </a:r>
          </a:p>
          <a:p>
            <a:r>
              <a:rPr sz="1500">
                <a:latin typeface="Noto Sans KR"/>
              </a:rPr>
              <a:t>• "다른 조합 보기"로 사용자 능동적 코스 다양화</a:t>
            </a:r>
          </a:p>
          <a:p>
            <a:r>
              <a:rPr sz="1500">
                <a:latin typeface="Noto Sans KR"/>
              </a:rPr>
              <a:t/>
            </a:r>
          </a:p>
          <a:p>
            <a:r>
              <a:rPr sz="1500">
                <a:latin typeface="Noto Sans KR"/>
              </a:rPr>
              <a:t>사업 관점 (Business)</a:t>
            </a:r>
          </a:p>
          <a:p>
            <a:r>
              <a:rPr sz="1500">
                <a:latin typeface="Noto Sans KR"/>
              </a:rPr>
              <a:t>• 시·도 4개 → 17개 전국 확대 (sigungu 매핑 확장만으로 가능)</a:t>
            </a:r>
          </a:p>
          <a:p>
            <a:r>
              <a:rPr sz="1500">
                <a:latin typeface="Noto Sans KR"/>
              </a:rPr>
              <a:t>• 외국인 무장애 관광객 시장 진입 (KTO 다국어 API 8개)</a:t>
            </a:r>
          </a:p>
          <a:p>
            <a:r>
              <a:rPr sz="1500">
                <a:latin typeface="Noto Sans KR"/>
              </a:rPr>
              <a:t>• B2B — 요양시설·복지관·여행사 무장애 단체여행 기획 도구</a:t>
            </a:r>
          </a:p>
          <a:p>
            <a:r>
              <a:rPr sz="1500">
                <a:latin typeface="Noto Sans KR"/>
              </a:rPr>
              <a:t/>
            </a:r>
          </a:p>
          <a:p>
            <a:r>
              <a:rPr sz="1500">
                <a:latin typeface="Noto Sans KR"/>
              </a:rPr>
              <a:t>기술 관점 (Technology)</a:t>
            </a:r>
          </a:p>
          <a:p>
            <a:r>
              <a:rPr sz="1500">
                <a:latin typeface="Noto Sans KR"/>
              </a:rPr>
              <a:t>• Ennoia preset 2단 구조 (추론전용 + KTO MCP) — 수집/추론 분리 패턴</a:t>
            </a:r>
          </a:p>
          <a:p>
            <a:r>
              <a:rPr sz="1500">
                <a:latin typeface="Noto Sans KR"/>
              </a:rPr>
              <a:t>• 14종 외부 API fallback chain + 5초 timeout — 신뢰성·속도 양립</a:t>
            </a:r>
          </a:p>
          <a:p>
            <a:r>
              <a:rPr sz="1500">
                <a:latin typeface="Noto Sans KR"/>
              </a:rPr>
              <a:t>• 행안부 EPSG:5174 → WGS84, 법정동 ↔ TourAPI sigunguCode 매핑 노하우</a:t>
            </a:r>
          </a:p>
          <a:p>
            <a:r>
              <a:rPr sz="1500">
                <a:latin typeface="Noto Sans KR"/>
              </a:rPr>
              <a:t>• 시각 약자 TTS·음성 입력 등 접근성 확장 로드맵</a:t>
            </a:r>
          </a:p>
        </p:txBody>
      </p:sp>
      <p:sp>
        <p:nvSpPr>
          <p:cNvPr id="247" name="Google Shape;247;p25"/>
          <p:cNvSpPr txBox="1"/>
          <p:nvPr/>
        </p:nvSpPr>
        <p:spPr>
          <a:xfrm>
            <a:off x="4791178" y="16666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우리 팀 소감</a:t>
            </a:r>
            <a:endParaRPr b="1"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4791191" y="2173850"/>
            <a:ext cx="42693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solidFill/>
                <a:latin typeface="Noto Sans KR"/>
                <a:ea typeface="Noto Sans KR"/>
                <a:cs typeface="Noto Sans KR"/>
                <a:sym typeface="Noto Sans KR"/>
              </a:rPr>
              <a:t>한승범 (팀장)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sz="1500">
                <a:latin typeface="Noto Sans KR"/>
              </a:rPr>
              <a:t>"Ennoia 플랫폼을 처음 다루며 MCP·preset·사용자별 인증 체계가 처음엔 낯설었지만, 한 번 익히고 나니 KTO 63개 도구를 LLM이 자동으로 호출하는 모습이 강력했습니다. 플랫폼이 통합·인증을 책임지고, 우리는 도메인 로직에 집중한다는 가치를 직접 체감했습니다."</a:t>
            </a:r>
          </a:p>
          <a:p>
            <a:r>
              <a:rPr sz="1500">
                <a:latin typeface="Noto Sans KR"/>
              </a:rPr>
              <a:t/>
            </a:r>
          </a:p>
          <a:p>
            <a:r>
              <a:rPr sz="1500">
                <a:latin typeface="Noto Sans KR"/>
              </a:rPr>
              <a:t>생성형 AI 사용 후기</a:t>
            </a:r>
          </a:p>
          <a:p>
            <a:r>
              <a:rPr sz="1500">
                <a:latin typeface="Noto Sans KR"/>
              </a:rPr>
              <a:t>우리 코드의 LLM 추론 부분(체력 시뮬·세대 분기·narrative 생성)은 LLM 없이 결정론적 fallback으로도 동작하도록 설계했지만, LLM이 합쳐졌을 때 사용자가 받는 "1인칭 일기"의 따뜻함은 결정론 코드로 만들 수 없는 가치였습니다. 특히 multiGen narrative에서 "근정전에서 손주가 할머니께 학창시절 이야기 듣기" 같은 세대 연결 bonding 미션을 LLM이 스스로 만들어내는 모습이 인상적이었습니다. 생성형 AI는 단순히 답을 생성하는 것이 아니라 사람과 사람 사이의 연결을 디자인할 수 있는 도구라는 것을 배웠습니다.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o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74320"/>
            <a:ext cx="8168640" cy="45948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data-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74320"/>
            <a:ext cx="8168640" cy="45948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74320"/>
            <a:ext cx="8168640" cy="45948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